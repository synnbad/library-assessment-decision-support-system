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Library Assessment Decision Support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Final project for NLP for Information Professionals | Presentation date: April 27,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00200"/>
            <a:ext cx="10972800" cy="2926080"/>
          </a:xfrm>
          <a:prstGeom prst="rect">
            <a:avLst/>
          </a:prstGeom>
          <a:solidFill>
            <a:srgbClr val="EBF2EF"/>
          </a:solidFill>
          <a:ln>
            <a:solidFill>
              <a:srgbClr val="137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defRPr sz="2800" b="1">
                <a:solidFill>
                  <a:srgbClr val="137073"/>
                </a:solidFill>
              </a:defRPr>
            </a:pPr>
            <a:r>
              <a:t>Local-first AI for library assessment workflows</a:t>
            </a:r>
          </a:p>
          <a:p>
            <a:pPr>
              <a:spcAft>
                <a:spcPts val="400"/>
              </a:spcAft>
              <a:defRPr sz="1700">
                <a:solidFill>
                  <a:srgbClr val="1E2A2E"/>
                </a:solidFill>
              </a:defRPr>
            </a:pPr>
            <a:r>
              <a:t>Import and profile assessment data</a:t>
            </a:r>
          </a:p>
          <a:p>
            <a:pPr>
              <a:spcAft>
                <a:spcPts val="400"/>
              </a:spcAft>
              <a:defRPr sz="1700">
                <a:solidFill>
                  <a:srgbClr val="1E2A2E"/>
                </a:solidFill>
              </a:defRPr>
            </a:pPr>
            <a:r>
              <a:t>Analyze qualitative and quantitative evidence</a:t>
            </a:r>
          </a:p>
          <a:p>
            <a:pPr>
              <a:spcAft>
                <a:spcPts val="400"/>
              </a:spcAft>
              <a:defRPr sz="1700">
                <a:solidFill>
                  <a:srgbClr val="1E2A2E"/>
                </a:solidFill>
              </a:defRPr>
            </a:pPr>
            <a:r>
              <a:t>Ask cited natural-language questions</a:t>
            </a:r>
          </a:p>
          <a:p>
            <a:pPr>
              <a:spcAft>
                <a:spcPts val="400"/>
              </a:spcAft>
              <a:defRPr sz="1700">
                <a:solidFill>
                  <a:srgbClr val="1E2A2E"/>
                </a:solidFill>
              </a:defRPr>
            </a:pPr>
            <a:r>
              <a:t>Generate stakeholder-ready reports while preserving privacy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Assessment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Library assessment work is evidence-rich but operationally fragmented.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325F8C"/>
                </a:solidFill>
              </a:defRPr>
            </a:pPr>
            <a:r>
              <a:t>Data Sources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Surveys, ILS exports, COUNTER reports, room bookings, instruction stats, reference logs, peer benchmarks, and vendor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4747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8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CA8F40"/>
                </a:solidFill>
              </a:defRPr>
            </a:pPr>
            <a:r>
              <a:t>Analysis Burden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Staff need to clean data, identify themes, compare metrics, prepare visuals, and explain limitations for stakeholders.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47472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8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A84C46"/>
                </a:solidFill>
              </a:defRPr>
            </a:pPr>
            <a:r>
              <a:t>Privacy Constraint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Student and patron data should remain local, with PII protection, auditability, and FAIR/CARE metadata.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2A2E"/>
                </a:solidFill>
              </a:defRPr>
            </a:pPr>
            <a:r>
              <a:t>Goal: combine NLP, statistical analysis, governance, and reporting into one practical decision-support system.</a:t>
            </a:r>
          </a:p>
          <a:p>
            <a:pPr>
              <a:spcAft>
                <a:spcPts val="700"/>
              </a:spcAft>
              <a:defRPr sz="1600">
                <a:solidFill>
                  <a:srgbClr val="1E2A2E"/>
                </a:solidFill>
              </a:defRPr>
            </a:pPr>
            <a:r>
              <a:t>Design posture: AI assists professional judgment; it does not replace assessment expertise.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A local Streamlit application with modular Python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920240" cy="914400"/>
          </a:xfrm>
          <a:prstGeom prst="round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</a:defRPr>
            </a:pPr>
            <a:r>
              <a:t>Import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828800"/>
            <a:ext cx="1920240" cy="914400"/>
          </a:xfrm>
          <a:prstGeom prst="roundRect">
            <a:avLst/>
          </a:prstGeom>
          <a:solidFill>
            <a:srgbClr val="32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</a:defRPr>
            </a:pPr>
            <a:r>
              <a:t>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828800"/>
            <a:ext cx="1920240" cy="914400"/>
          </a:xfrm>
          <a:prstGeom prst="roundRect">
            <a:avLst/>
          </a:prstGeom>
          <a:solidFill>
            <a:srgbClr val="508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</a:defRPr>
            </a:pPr>
            <a:r>
              <a:t>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828800"/>
            <a:ext cx="1920240" cy="914400"/>
          </a:xfrm>
          <a:prstGeom prst="roundRect">
            <a:avLst/>
          </a:prstGeom>
          <a:solidFill>
            <a:srgbClr val="CA8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</a:defRPr>
            </a:pPr>
            <a:r>
              <a:t>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828800"/>
            <a:ext cx="1920240" cy="914400"/>
          </a:xfrm>
          <a:prstGeom prst="roundRect">
            <a:avLst/>
          </a:prstGeom>
          <a:solidFill>
            <a:srgbClr val="A8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900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2E"/>
                </a:solidFill>
              </a:defRPr>
            </a:pPr>
            <a:r>
              <a:t>SQLite stores datasets, metadata, logs, reports, projects, dashboard blueprints, and training materials.</a:t>
            </a:r>
          </a:p>
          <a:p>
            <a:pPr>
              <a:spcAft>
                <a:spcPts val="700"/>
              </a:spcAft>
              <a:defRPr sz="1500">
                <a:solidFill>
                  <a:srgbClr val="1E2A2E"/>
                </a:solidFill>
              </a:defRPr>
            </a:pPr>
            <a:r>
              <a:t>ChromaDB indexes rows for retrieval-augmented querying.</a:t>
            </a:r>
          </a:p>
          <a:p>
            <a:pPr>
              <a:spcAft>
                <a:spcPts val="700"/>
              </a:spcAft>
              <a:defRPr sz="1500">
                <a:solidFill>
                  <a:srgbClr val="1E2A2E"/>
                </a:solidFill>
              </a:defRPr>
            </a:pPr>
            <a:r>
              <a:t>Ollama keeps language generation local for FERPA-conscious workflows.</a:t>
            </a:r>
          </a:p>
          <a:p>
            <a:pPr>
              <a:spcAft>
                <a:spcPts val="700"/>
              </a:spcAft>
              <a:defRPr sz="1500">
                <a:solidFill>
                  <a:srgbClr val="1E2A2E"/>
                </a:solidFill>
              </a:defRPr>
            </a:pPr>
            <a:r>
              <a:t>Streamlit pages expose focused workflows for upload, analysis, governance, logs, and assessment operations.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Data Import and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New import hub expands accepted data while preserving the existing CSV-compatible analysis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7432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7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137073"/>
                </a:solidFill>
              </a:defRPr>
            </a:pPr>
            <a:r>
              <a:t>Accepted Formats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CSV, TSV, TXT, Excel XLSX, and JSON imports.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280160"/>
            <a:ext cx="36576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325F8C"/>
                </a:solidFill>
              </a:defRPr>
            </a:pPr>
            <a:r>
              <a:t>Library Domains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Survey, usage, circulation, e-resource, spaces, instruction, reference, events, collection, and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80160"/>
            <a:ext cx="40233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8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CA8F40"/>
                </a:solidFill>
              </a:defRPr>
            </a:pPr>
            <a:r>
              <a:t>Auto Documentation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Generated metadata, inferred data dictionaries, source detection, and analysis-readiness 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2A2E"/>
                </a:solidFill>
              </a:defRPr>
            </a:pPr>
            <a:r>
              <a:t>COUNTER-style wide reports normalize into metric rows for quantitative analysis.</a:t>
            </a:r>
          </a:p>
          <a:p>
            <a:pPr>
              <a:spcAft>
                <a:spcPts val="700"/>
              </a:spcAft>
              <a:defRPr sz="1600">
                <a:solidFill>
                  <a:srgbClr val="1E2A2E"/>
                </a:solidFill>
              </a:defRPr>
            </a:pPr>
            <a:r>
              <a:t>Reference and survey text normalize into the qualitative analysis table.</a:t>
            </a:r>
          </a:p>
          <a:p>
            <a:pPr>
              <a:spcAft>
                <a:spcPts val="700"/>
              </a:spcAft>
              <a:defRPr sz="1600">
                <a:solidFill>
                  <a:srgbClr val="1E2A2E"/>
                </a:solidFill>
              </a:defRPr>
            </a:pPr>
            <a:r>
              <a:t>All imported data still flows through duplicate detection, idempotency, metadata validation, and local storage.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NLP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The NLP layer turns messy assessment evidence into searchable, explainable findings.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PII detection and redaction protect sensitive outputs.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TextBlob sentiment provides a transparent baseline for open-ended feedback.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Theme extraction summarizes recurring issues and representative quotes.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Sentence embeddings support semantic search across indexed rows.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RAG answers include citations and confidence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417320"/>
            <a:ext cx="43891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7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137073"/>
                </a:solidFill>
              </a:defRPr>
            </a:pPr>
            <a:r>
              <a:t>Local Generation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Ollama answers assessment questions without sending core data to a hosted AI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880360"/>
            <a:ext cx="43891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325F8C"/>
                </a:solidFill>
              </a:defRPr>
            </a:pPr>
            <a:r>
              <a:t>Smart Guidance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Dataset profiles suggest questions, warnings, strengths, and recommended next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343400"/>
            <a:ext cx="43891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0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508757"/>
                </a:solidFill>
              </a:defRPr>
            </a:pPr>
            <a:r>
              <a:t>Idempotency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Repeated uploads, query runs, indexing, pins, and report generation avoid accidental duplicates.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Analysis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The system supports both evidence discovery and stakeholder communication.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7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137073"/>
                </a:solidFill>
              </a:defRPr>
            </a:pPr>
            <a:r>
              <a:t>Qualitative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Sentiment, themes, representative quotes, and narrative summaries for feedback and reference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325F8C"/>
                </a:solidFill>
              </a:defRPr>
            </a:pPr>
            <a:r>
              <a:t>Quantitative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Correlation, trend, comparison, distribution, outlier, and modeling-readiness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234440"/>
            <a:ext cx="3383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8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CA8F40"/>
                </a:solidFill>
              </a:defRPr>
            </a:pPr>
            <a:r>
              <a:t>Reports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Pinned insights, statistics, visualizations, qualitative themes, citations, and exportable Markdown/PDF.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2E"/>
                </a:solidFill>
              </a:defRPr>
            </a:pPr>
            <a:r>
              <a:t>The report workflow is designed for assessment librarians preparing committee, leadership, accreditation, or departmental deliverables.</a:t>
            </a:r>
          </a:p>
          <a:p>
            <a:pPr>
              <a:spcAft>
                <a:spcPts val="700"/>
              </a:spcAft>
              <a:defRPr sz="1500">
                <a:solidFill>
                  <a:srgbClr val="1E2A2E"/>
                </a:solidFill>
              </a:defRPr>
            </a:pPr>
            <a:r>
              <a:t>Visualizations and dashboard blueprints connect analysis outputs to Power BI/Tableau-style stakeholder communication.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Assessment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A new operations layer matches real assessment librarian responsibilities.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2A2E"/>
                </a:solidFill>
              </a:defRPr>
            </a:pPr>
            <a:r>
              <a:t>Projects: goals, research questions, stakeholders, methods, datasets, findings, and recommendations.</a:t>
            </a:r>
          </a:p>
          <a:p>
            <a:pPr>
              <a:spcAft>
                <a:spcPts val="700"/>
              </a:spcAft>
              <a:defRPr sz="1600">
                <a:solidFill>
                  <a:srgbClr val="1E2A2E"/>
                </a:solidFill>
              </a:defRPr>
            </a:pPr>
            <a:r>
              <a:t>Benchmarking: peer comparison, ranking, percentile, and top-performer summaries.</a:t>
            </a:r>
          </a:p>
          <a:p>
            <a:pPr>
              <a:spcAft>
                <a:spcPts val="700"/>
              </a:spcAft>
              <a:defRPr sz="1600">
                <a:solidFill>
                  <a:srgbClr val="1E2A2E"/>
                </a:solidFill>
              </a:defRPr>
            </a:pPr>
            <a:r>
              <a:t>Dashboard Studio: user stories, KPI recommendations, audience, and visualization plan.</a:t>
            </a:r>
          </a:p>
          <a:p>
            <a:pPr>
              <a:spcAft>
                <a:spcPts val="700"/>
              </a:spcAft>
              <a:defRPr sz="1600">
                <a:solidFill>
                  <a:srgbClr val="1E2A2E"/>
                </a:solidFill>
              </a:defRPr>
            </a:pPr>
            <a:r>
              <a:t>Modeling Checks: missingness, numeric readiness, trend readiness, and outlier signals.</a:t>
            </a:r>
          </a:p>
          <a:p>
            <a:pPr>
              <a:spcAft>
                <a:spcPts val="700"/>
              </a:spcAft>
              <a:defRPr sz="1600">
                <a:solidFill>
                  <a:srgbClr val="1E2A2E"/>
                </a:solidFill>
              </a:defRPr>
            </a:pPr>
            <a:r>
              <a:t>Methods &amp; Training: workshop outlines and staff-facing documentation starters.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A practical path for tomorrow's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1. Upload or import a dataset and review generated metadata/data dictionary.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2. Validate the profile, warnings, strengths, and suggested questions.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3. Index the dataset and ask a cited natural-language question.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4. Run qualitative or quantitative analysis based on the dataset profile.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5. Pin a useful answer, generate a report, and show governance/log readiness.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6. Open Assessment Workspace to create a project, benchmark summary, dashboard blueprint, or training outline.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Evaluation and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The build is validated with automated and manual-oriented checks.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08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508757"/>
                </a:solidFill>
              </a:defRPr>
            </a:pPr>
            <a:r>
              <a:t>Tests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Unit, integration, property, and manual smoke tests cover upload, query, reports, NLP, visualizations, governance, and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3832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325F8C"/>
                </a:solidFill>
              </a:defRPr>
            </a:pPr>
            <a:r>
              <a:t>Code Quality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Ruff linting and Python compile checks guard syntax, imports, and style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3832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8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A84C46"/>
                </a:solidFill>
              </a:defRPr>
            </a:pPr>
            <a:r>
              <a:t>Operational Safety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Idempotency, duplicate detection, PII redaction, local processing, and audit logs reduce real-world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2E"/>
                </a:solidFill>
              </a:defRPr>
            </a:pPr>
            <a:r>
              <a:t>Current direction: move from an analysis prototype toward a library assessment operations platform.</a:t>
            </a:r>
          </a:p>
          <a:p>
            <a:pPr>
              <a:spcAft>
                <a:spcPts val="700"/>
              </a:spcAft>
              <a:defRPr sz="1500">
                <a:solidFill>
                  <a:srgbClr val="1E2A2E"/>
                </a:solidFill>
              </a:defRPr>
            </a:pPr>
            <a:r>
              <a:t>Testing emphasis: edge cases, reruns, stale cache behavior, schema migration, data parsing, and full regression before merge.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What should improve after the course final.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Add richer PDF/table extraction and batch ZIP ingestion.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Deepen dashboard export paths for Tableau and Power BI handoff.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Add stronger statistical model selection and explainability.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Expand benchmark templates for ACRL, ARL, IPEDS, and consortial datasets.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Conduct usability testing with assessment and UX librarians.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Package reproducible demo data and scenario scripts for onboarding.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A2E"/>
                </a:solidFill>
              </a:defRPr>
            </a:pPr>
            <a: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6E"/>
                </a:solidFill>
              </a:defRPr>
            </a:pPr>
            <a:r>
              <a:t>NLP is most useful here when it is grounded in workflow, governance, and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2412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7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wrap="square"/>
          <a:lstStyle/>
          <a:p>
            <a:pPr algn="ctr">
              <a:defRPr b="1" sz="1500">
                <a:solidFill>
                  <a:srgbClr val="137073"/>
                </a:solidFill>
              </a:defRPr>
            </a:pPr>
            <a:r>
              <a:t>Core Claim</a:t>
            </a:r>
          </a:p>
          <a:p>
            <a:pPr>
              <a:defRPr sz="1150">
                <a:solidFill>
                  <a:srgbClr val="1E2A2E"/>
                </a:solidFill>
              </a:defRPr>
            </a:pPr>
            <a:r>
              <a:t>The system demonstrates how local NLP can help information professionals move from raw library evidence to accountable, stakeholder-ready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70332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It imports and profiles data, analyzes text and metrics, answers questions with citations, documents governance, and produces report-ready outputs.</a:t>
            </a:r>
          </a:p>
          <a:p>
            <a:pPr>
              <a:spcAft>
                <a:spcPts val="700"/>
              </a:spcAft>
              <a:defRPr sz="1700">
                <a:solidFill>
                  <a:srgbClr val="1E2A2E"/>
                </a:solidFill>
              </a:defRPr>
            </a:pPr>
            <a:r>
              <a:t>The design keeps assessment librarians in control of interpretation, limitations, and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13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6E"/>
                </a:solidFill>
              </a:defRPr>
            </a:pPr>
            <a:r>
              <a:t>NLP for Information Professionals final project | Library Assessment Assistant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